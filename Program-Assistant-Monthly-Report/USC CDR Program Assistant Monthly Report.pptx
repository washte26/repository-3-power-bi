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301" r:id="rId37"/>
    <p:sldId id="302" r:id="rId38"/>
    <p:sldId id="303" r:id="rId39"/>
    <p:sldId id="304" r:id="rId40"/>
    <p:sldId id="305" r:id="rId41"/>
    <p:sldId id="306" r:id="rId42"/>
    <p:sldId id="307" r:id="rId43"/>
    <p:sldId id="308" r:id="rId44"/>
  </p:sldIdLst>
  <p:sldSz cx="18288000" cy="10287000"/>
  <p:notesSz cx="6858000" cy="9144000"/>
  <p:embeddedFontLst>
    <p:embeddedFont>
      <p:font typeface="Canva Sans Bold" panose="020B0604020202020204" charset="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76383" y="-1070266"/>
            <a:ext cx="7502284" cy="7502284"/>
          </a:xfrm>
          <a:custGeom>
            <a:avLst/>
            <a:gdLst/>
            <a:ahLst/>
            <a:cxnLst/>
            <a:rect l="l" t="t" r="r" b="b"/>
            <a:pathLst>
              <a:path w="7502284" h="7502284">
                <a:moveTo>
                  <a:pt x="0" y="0"/>
                </a:moveTo>
                <a:lnTo>
                  <a:pt x="7502284" y="0"/>
                </a:lnTo>
                <a:lnTo>
                  <a:pt x="7502284" y="7502284"/>
                </a:lnTo>
                <a:lnTo>
                  <a:pt x="0" y="7502284"/>
                </a:lnTo>
                <a:lnTo>
                  <a:pt x="0" y="0"/>
                </a:lnTo>
                <a:close/>
              </a:path>
            </a:pathLst>
          </a:custGeom>
          <a:blipFill>
            <a:blip r:embed="rId2"/>
            <a:stretch>
              <a:fillRect/>
            </a:stretch>
          </a:blipFill>
        </p:spPr>
        <p:txBody>
          <a:bodyPr/>
          <a:lstStyle/>
          <a:p>
            <a:endParaRPr lang="en-US"/>
          </a:p>
        </p:txBody>
      </p:sp>
      <p:sp>
        <p:nvSpPr>
          <p:cNvPr id="3" name="Freeform 3"/>
          <p:cNvSpPr/>
          <p:nvPr/>
        </p:nvSpPr>
        <p:spPr>
          <a:xfrm>
            <a:off x="11373044" y="-440690"/>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12413" y="4807388"/>
            <a:ext cx="19197680" cy="3134961"/>
          </a:xfrm>
          <a:prstGeom prst="rect">
            <a:avLst/>
          </a:prstGeom>
        </p:spPr>
        <p:txBody>
          <a:bodyPr lIns="0" tIns="0" rIns="0" bIns="0" rtlCol="0" anchor="t">
            <a:spAutoFit/>
          </a:bodyPr>
          <a:lstStyle/>
          <a:p>
            <a:pPr algn="ctr">
              <a:lnSpc>
                <a:spcPts val="8369"/>
              </a:lnSpc>
            </a:pPr>
            <a:r>
              <a:rPr lang="en-US" sz="5978" b="1" dirty="0">
                <a:solidFill>
                  <a:srgbClr val="000000"/>
                </a:solidFill>
                <a:latin typeface="Canva Sans Bold"/>
                <a:ea typeface="Canva Sans Bold"/>
                <a:cs typeface="Canva Sans Bold"/>
                <a:sym typeface="Canva Sans Bold"/>
              </a:rPr>
              <a:t>Program Assistant </a:t>
            </a:r>
          </a:p>
          <a:p>
            <a:pPr algn="ctr">
              <a:lnSpc>
                <a:spcPts val="8369"/>
              </a:lnSpc>
            </a:pPr>
            <a:r>
              <a:rPr lang="en-US" sz="5978" b="1" dirty="0">
                <a:solidFill>
                  <a:srgbClr val="000000"/>
                </a:solidFill>
                <a:latin typeface="Canva Sans Bold"/>
                <a:ea typeface="Canva Sans Bold"/>
                <a:cs typeface="Canva Sans Bold"/>
                <a:sym typeface="Canva Sans Bold"/>
              </a:rPr>
              <a:t>Microsoft Power BI Dashboard Reporting</a:t>
            </a:r>
          </a:p>
          <a:p>
            <a:pPr algn="ctr">
              <a:lnSpc>
                <a:spcPts val="8369"/>
              </a:lnSpc>
              <a:spcBef>
                <a:spcPct val="0"/>
              </a:spcBef>
            </a:pPr>
            <a:r>
              <a:rPr lang="en-US" sz="5978" b="1" dirty="0">
                <a:solidFill>
                  <a:srgbClr val="000000"/>
                </a:solidFill>
                <a:latin typeface="Canva Sans Bold"/>
                <a:ea typeface="Canva Sans Bold"/>
                <a:cs typeface="Canva Sans Bold"/>
                <a:sym typeface="Canva Sans Bold"/>
              </a:rPr>
              <a:t>11 September 2026</a:t>
            </a:r>
          </a:p>
        </p:txBody>
      </p:sp>
      <p:sp>
        <p:nvSpPr>
          <p:cNvPr id="5" name="Freeform 5"/>
          <p:cNvSpPr/>
          <p:nvPr/>
        </p:nvSpPr>
        <p:spPr>
          <a:xfrm>
            <a:off x="6425529" y="314502"/>
            <a:ext cx="4460006" cy="4460006"/>
          </a:xfrm>
          <a:custGeom>
            <a:avLst/>
            <a:gdLst/>
            <a:ahLst/>
            <a:cxnLst/>
            <a:rect l="l" t="t" r="r" b="b"/>
            <a:pathLst>
              <a:path w="4460006" h="4460006">
                <a:moveTo>
                  <a:pt x="0" y="0"/>
                </a:moveTo>
                <a:lnTo>
                  <a:pt x="4460006" y="0"/>
                </a:lnTo>
                <a:lnTo>
                  <a:pt x="4460006" y="4460006"/>
                </a:lnTo>
                <a:lnTo>
                  <a:pt x="0" y="4460006"/>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313711" y="2113829"/>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HWC-SC Website View Data </a:t>
            </a:r>
          </a:p>
        </p:txBody>
      </p:sp>
      <p:sp>
        <p:nvSpPr>
          <p:cNvPr id="3" name="Freeform 3"/>
          <p:cNvSpPr/>
          <p:nvPr/>
        </p:nvSpPr>
        <p:spPr>
          <a:xfrm>
            <a:off x="5392858" y="2132199"/>
            <a:ext cx="7502284" cy="7502284"/>
          </a:xfrm>
          <a:custGeom>
            <a:avLst/>
            <a:gdLst/>
            <a:ahLst/>
            <a:cxnLst/>
            <a:rect l="l" t="t" r="r" b="b"/>
            <a:pathLst>
              <a:path w="7502284" h="7502284">
                <a:moveTo>
                  <a:pt x="0" y="0"/>
                </a:moveTo>
                <a:lnTo>
                  <a:pt x="7502284" y="0"/>
                </a:lnTo>
                <a:lnTo>
                  <a:pt x="7502284" y="7502284"/>
                </a:lnTo>
                <a:lnTo>
                  <a:pt x="0" y="7502284"/>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61259" y="815939"/>
            <a:ext cx="11301259" cy="4548757"/>
          </a:xfrm>
          <a:custGeom>
            <a:avLst/>
            <a:gdLst/>
            <a:ahLst/>
            <a:cxnLst/>
            <a:rect l="l" t="t" r="r" b="b"/>
            <a:pathLst>
              <a:path w="11301259" h="4548757">
                <a:moveTo>
                  <a:pt x="0" y="0"/>
                </a:moveTo>
                <a:lnTo>
                  <a:pt x="11301259" y="0"/>
                </a:lnTo>
                <a:lnTo>
                  <a:pt x="11301259" y="4548757"/>
                </a:lnTo>
                <a:lnTo>
                  <a:pt x="0" y="4548757"/>
                </a:lnTo>
                <a:lnTo>
                  <a:pt x="0" y="0"/>
                </a:lnTo>
                <a:close/>
              </a:path>
            </a:pathLst>
          </a:custGeom>
          <a:blipFill>
            <a:blip r:embed="rId2"/>
            <a:stretch>
              <a:fillRect/>
            </a:stretch>
          </a:blipFill>
        </p:spPr>
        <p:txBody>
          <a:bodyPr/>
          <a:lstStyle/>
          <a:p>
            <a:endParaRPr lang="en-US"/>
          </a:p>
        </p:txBody>
      </p:sp>
      <p:sp>
        <p:nvSpPr>
          <p:cNvPr id="3" name="Freeform 3"/>
          <p:cNvSpPr/>
          <p:nvPr/>
        </p:nvSpPr>
        <p:spPr>
          <a:xfrm>
            <a:off x="6784686" y="5465330"/>
            <a:ext cx="11301259" cy="4605263"/>
          </a:xfrm>
          <a:custGeom>
            <a:avLst/>
            <a:gdLst/>
            <a:ahLst/>
            <a:cxnLst/>
            <a:rect l="l" t="t" r="r" b="b"/>
            <a:pathLst>
              <a:path w="11301259" h="4605263">
                <a:moveTo>
                  <a:pt x="0" y="0"/>
                </a:moveTo>
                <a:lnTo>
                  <a:pt x="11301259" y="0"/>
                </a:lnTo>
                <a:lnTo>
                  <a:pt x="11301259" y="4605263"/>
                </a:lnTo>
                <a:lnTo>
                  <a:pt x="0" y="460526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0" y="-114300"/>
            <a:ext cx="17513079" cy="1019692"/>
          </a:xfrm>
          <a:prstGeom prst="rect">
            <a:avLst/>
          </a:prstGeom>
        </p:spPr>
        <p:txBody>
          <a:bodyPr wrap="square" lIns="0" tIns="0" rIns="0" bIns="0" rtlCol="0" anchor="t">
            <a:spAutoFit/>
          </a:bodyPr>
          <a:lstStyle/>
          <a:p>
            <a:pPr algn="ctr">
              <a:lnSpc>
                <a:spcPts val="8369"/>
              </a:lnSpc>
              <a:spcBef>
                <a:spcPct val="0"/>
              </a:spcBef>
            </a:pPr>
            <a:r>
              <a:rPr lang="en-US" sz="5978" b="1" dirty="0">
                <a:solidFill>
                  <a:srgbClr val="000000"/>
                </a:solidFill>
                <a:latin typeface="Canva Sans Bold"/>
                <a:ea typeface="Canva Sans Bold"/>
                <a:cs typeface="Canva Sans Bold"/>
                <a:sym typeface="Canva Sans Bold"/>
              </a:rPr>
              <a:t>Data Report 1 October 2025 - 31 March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98673" y="2245443"/>
            <a:ext cx="17890653" cy="5415058"/>
          </a:xfrm>
          <a:prstGeom prst="rect">
            <a:avLst/>
          </a:prstGeom>
        </p:spPr>
        <p:txBody>
          <a:bodyPr lIns="0" tIns="0" rIns="0" bIns="0" rtlCol="0" anchor="t">
            <a:spAutoFit/>
          </a:bodyPr>
          <a:lstStyle/>
          <a:p>
            <a:pPr algn="l">
              <a:lnSpc>
                <a:spcPts val="2909"/>
              </a:lnSpc>
              <a:spcBef>
                <a:spcPct val="0"/>
              </a:spcBef>
            </a:pPr>
            <a:r>
              <a:rPr lang="en-US" sz="2078" b="1">
                <a:solidFill>
                  <a:srgbClr val="000000"/>
                </a:solidFill>
                <a:latin typeface="Canva Sans Bold"/>
                <a:ea typeface="Canva Sans Bold"/>
                <a:cs typeface="Canva Sans Bold"/>
                <a:sym typeface="Canva Sans Bold"/>
              </a:rPr>
              <a:t>Since its launch in 2024, the Handle With Care South Carolina (HWC-SC) website has demonstrated strong engagement and reach. Between July 1, 2024, and November 20, 2025, the site recorded over 8,700 total views across its pages, with the main homepage and core program pages leading in traffic. The site attracted more than 4,800 active users, averaging 1.7 views per active user, which indicates that visitors explored multiple resources during their sessions. Engagement time was significant, with users spending an average of 38 minutes per active user on the homepage and even higher times on implementation and FAQ pages, some exceeding 70 minutes, reflecting deep interest in program details. Training and resource pages also saw consistent activity, supporting the program’s goal of equipping schools and agencies with trauma-informed practices. Overall, these metrics show that the HWC-SC website is not only reaching its intended audience but also fostering meaningful engagement, which is critical for advancing the program’s mission statewide.</a:t>
            </a:r>
          </a:p>
          <a:p>
            <a:pPr algn="l">
              <a:lnSpc>
                <a:spcPts val="2909"/>
              </a:lnSpc>
              <a:spcBef>
                <a:spcPct val="0"/>
              </a:spcBef>
            </a:pPr>
            <a:endParaRPr lang="en-US" sz="2078" b="1">
              <a:solidFill>
                <a:srgbClr val="000000"/>
              </a:solidFill>
              <a:latin typeface="Canva Sans Bold"/>
              <a:ea typeface="Canva Sans Bold"/>
              <a:cs typeface="Canva Sans Bold"/>
              <a:sym typeface="Canva Sans Bold"/>
            </a:endParaRPr>
          </a:p>
          <a:p>
            <a:pPr algn="l">
              <a:lnSpc>
                <a:spcPts val="2909"/>
              </a:lnSpc>
              <a:spcBef>
                <a:spcPct val="0"/>
              </a:spcBef>
            </a:pPr>
            <a:r>
              <a:rPr lang="en-US" sz="2078" b="1">
                <a:solidFill>
                  <a:srgbClr val="000000"/>
                </a:solidFill>
                <a:latin typeface="Canva Sans Bold"/>
                <a:ea typeface="Canva Sans Bold"/>
                <a:cs typeface="Canva Sans Bold"/>
                <a:sym typeface="Canva Sans Bold"/>
              </a:rPr>
              <a:t>Top-performing pages highlight user priorities. The homepage and the “Handle With Care” overview page together accounted for the largest share of views, confirming strong interest in understanding the program’s purpose. The “Training Opportunities” page ranked second, showing that visitors are actively seeking professional development resources. Pages such as “Program Requirements &amp; Implementation” and “Contact Us” had some of the highest engagement times—over 70 minutes in some cases—indicating that users are deeply reviewing guidance for implementation and connecting with program staff. This pattern suggests that stakeholders are not only learning about the program but also taking steps toward adoption and collaboration.</a:t>
            </a:r>
          </a:p>
        </p:txBody>
      </p:sp>
      <p:sp>
        <p:nvSpPr>
          <p:cNvPr id="3" name="TextBox 3"/>
          <p:cNvSpPr txBox="1"/>
          <p:nvPr/>
        </p:nvSpPr>
        <p:spPr>
          <a:xfrm>
            <a:off x="2109527" y="461653"/>
            <a:ext cx="1338924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Handle with Care Website Narrative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99061" y="137022"/>
            <a:ext cx="17489878" cy="10012955"/>
          </a:xfrm>
          <a:custGeom>
            <a:avLst/>
            <a:gdLst/>
            <a:ahLst/>
            <a:cxnLst/>
            <a:rect l="l" t="t" r="r" b="b"/>
            <a:pathLst>
              <a:path w="17489878" h="10012955">
                <a:moveTo>
                  <a:pt x="0" y="0"/>
                </a:moveTo>
                <a:lnTo>
                  <a:pt x="17489878" y="0"/>
                </a:lnTo>
                <a:lnTo>
                  <a:pt x="17489878" y="10012956"/>
                </a:lnTo>
                <a:lnTo>
                  <a:pt x="0" y="100129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8043" y="1028700"/>
            <a:ext cx="17991913" cy="9085916"/>
          </a:xfrm>
          <a:custGeom>
            <a:avLst/>
            <a:gdLst/>
            <a:ahLst/>
            <a:cxnLst/>
            <a:rect l="l" t="t" r="r" b="b"/>
            <a:pathLst>
              <a:path w="17991913" h="9085916">
                <a:moveTo>
                  <a:pt x="0" y="0"/>
                </a:moveTo>
                <a:lnTo>
                  <a:pt x="17991914" y="0"/>
                </a:lnTo>
                <a:lnTo>
                  <a:pt x="17991914" y="9085916"/>
                </a:lnTo>
                <a:lnTo>
                  <a:pt x="0" y="9085916"/>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14300"/>
            <a:ext cx="1657069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Data Report 1 July 2024 - 20 November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313711" y="2113829"/>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South Carolina Crime Involving Firearms Data </a:t>
            </a:r>
          </a:p>
        </p:txBody>
      </p:sp>
      <p:sp>
        <p:nvSpPr>
          <p:cNvPr id="3" name="Freeform 3"/>
          <p:cNvSpPr/>
          <p:nvPr/>
        </p:nvSpPr>
        <p:spPr>
          <a:xfrm>
            <a:off x="5392858" y="2132199"/>
            <a:ext cx="7502284" cy="7502284"/>
          </a:xfrm>
          <a:custGeom>
            <a:avLst/>
            <a:gdLst/>
            <a:ahLst/>
            <a:cxnLst/>
            <a:rect l="l" t="t" r="r" b="b"/>
            <a:pathLst>
              <a:path w="7502284" h="7502284">
                <a:moveTo>
                  <a:pt x="0" y="0"/>
                </a:moveTo>
                <a:lnTo>
                  <a:pt x="7502284" y="0"/>
                </a:lnTo>
                <a:lnTo>
                  <a:pt x="7502284" y="7502284"/>
                </a:lnTo>
                <a:lnTo>
                  <a:pt x="0" y="7502284"/>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652241" y="1182096"/>
            <a:ext cx="16607059" cy="8925356"/>
          </a:xfrm>
          <a:custGeom>
            <a:avLst/>
            <a:gdLst/>
            <a:ahLst/>
            <a:cxnLst/>
            <a:rect l="l" t="t" r="r" b="b"/>
            <a:pathLst>
              <a:path w="16607059" h="8925356">
                <a:moveTo>
                  <a:pt x="0" y="0"/>
                </a:moveTo>
                <a:lnTo>
                  <a:pt x="16607059" y="0"/>
                </a:lnTo>
                <a:lnTo>
                  <a:pt x="16607059" y="8925356"/>
                </a:lnTo>
                <a:lnTo>
                  <a:pt x="0" y="8925356"/>
                </a:lnTo>
                <a:lnTo>
                  <a:pt x="0" y="0"/>
                </a:lnTo>
                <a:close/>
              </a:path>
            </a:pathLst>
          </a:custGeom>
          <a:blipFill>
            <a:blip r:embed="rId2"/>
            <a:stretch>
              <a:fillRect t="-2336"/>
            </a:stretch>
          </a:blipFill>
        </p:spPr>
        <p:txBody>
          <a:bodyPr/>
          <a:lstStyle/>
          <a:p>
            <a:endParaRPr lang="en-US"/>
          </a:p>
        </p:txBody>
      </p:sp>
      <p:sp>
        <p:nvSpPr>
          <p:cNvPr id="3" name="TextBox 3"/>
          <p:cNvSpPr txBox="1"/>
          <p:nvPr/>
        </p:nvSpPr>
        <p:spPr>
          <a:xfrm>
            <a:off x="-334472" y="181351"/>
            <a:ext cx="19197680" cy="927620"/>
          </a:xfrm>
          <a:prstGeom prst="rect">
            <a:avLst/>
          </a:prstGeom>
        </p:spPr>
        <p:txBody>
          <a:bodyPr lIns="0" tIns="0" rIns="0" bIns="0" rtlCol="0" anchor="t">
            <a:spAutoFit/>
          </a:bodyPr>
          <a:lstStyle/>
          <a:p>
            <a:pPr algn="ctr">
              <a:lnSpc>
                <a:spcPts val="7669"/>
              </a:lnSpc>
              <a:spcBef>
                <a:spcPct val="0"/>
              </a:spcBef>
            </a:pPr>
            <a:r>
              <a:rPr lang="en-US" sz="5478" b="1">
                <a:solidFill>
                  <a:srgbClr val="000000"/>
                </a:solidFill>
                <a:latin typeface="Canva Sans Bold"/>
                <a:ea typeface="Canva Sans Bold"/>
                <a:cs typeface="Canva Sans Bold"/>
                <a:sym typeface="Canva Sans Bold"/>
              </a:rPr>
              <a:t>Crime Involving Firearms Incidents Data (by County)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94486" y="1182096"/>
            <a:ext cx="16650694" cy="8908122"/>
          </a:xfrm>
          <a:custGeom>
            <a:avLst/>
            <a:gdLst/>
            <a:ahLst/>
            <a:cxnLst/>
            <a:rect l="l" t="t" r="r" b="b"/>
            <a:pathLst>
              <a:path w="16650694" h="8908122">
                <a:moveTo>
                  <a:pt x="0" y="0"/>
                </a:moveTo>
                <a:lnTo>
                  <a:pt x="16650695" y="0"/>
                </a:lnTo>
                <a:lnTo>
                  <a:pt x="16650695" y="8908122"/>
                </a:lnTo>
                <a:lnTo>
                  <a:pt x="0" y="890812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34472" y="190876"/>
            <a:ext cx="19197680" cy="828659"/>
          </a:xfrm>
          <a:prstGeom prst="rect">
            <a:avLst/>
          </a:prstGeom>
        </p:spPr>
        <p:txBody>
          <a:bodyPr lIns="0" tIns="0" rIns="0" bIns="0" rtlCol="0" anchor="t">
            <a:spAutoFit/>
          </a:bodyPr>
          <a:lstStyle/>
          <a:p>
            <a:pPr algn="ctr">
              <a:lnSpc>
                <a:spcPts val="6829"/>
              </a:lnSpc>
              <a:spcBef>
                <a:spcPct val="0"/>
              </a:spcBef>
            </a:pPr>
            <a:r>
              <a:rPr lang="en-US" sz="4878" b="1">
                <a:solidFill>
                  <a:srgbClr val="000000"/>
                </a:solidFill>
                <a:latin typeface="Canva Sans Bold"/>
                <a:ea typeface="Canva Sans Bold"/>
                <a:cs typeface="Canva Sans Bold"/>
                <a:sym typeface="Canva Sans Bold"/>
              </a:rPr>
              <a:t>County Crime Involving Firearms Incidents Data (by County)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83333" y="1182096"/>
            <a:ext cx="16375967" cy="8986312"/>
          </a:xfrm>
          <a:custGeom>
            <a:avLst/>
            <a:gdLst/>
            <a:ahLst/>
            <a:cxnLst/>
            <a:rect l="l" t="t" r="r" b="b"/>
            <a:pathLst>
              <a:path w="16375967" h="8986312">
                <a:moveTo>
                  <a:pt x="0" y="0"/>
                </a:moveTo>
                <a:lnTo>
                  <a:pt x="16375967" y="0"/>
                </a:lnTo>
                <a:lnTo>
                  <a:pt x="16375967" y="8986312"/>
                </a:lnTo>
                <a:lnTo>
                  <a:pt x="0" y="898631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34472" y="181351"/>
            <a:ext cx="19197680" cy="894666"/>
          </a:xfrm>
          <a:prstGeom prst="rect">
            <a:avLst/>
          </a:prstGeom>
        </p:spPr>
        <p:txBody>
          <a:bodyPr lIns="0" tIns="0" rIns="0" bIns="0" rtlCol="0" anchor="t">
            <a:spAutoFit/>
          </a:bodyPr>
          <a:lstStyle/>
          <a:p>
            <a:pPr algn="ctr">
              <a:lnSpc>
                <a:spcPts val="7389"/>
              </a:lnSpc>
              <a:spcBef>
                <a:spcPct val="0"/>
              </a:spcBef>
            </a:pPr>
            <a:r>
              <a:rPr lang="en-US" sz="5278" b="1">
                <a:solidFill>
                  <a:srgbClr val="000000"/>
                </a:solidFill>
                <a:latin typeface="Canva Sans Bold"/>
                <a:ea typeface="Canva Sans Bold"/>
                <a:cs typeface="Canva Sans Bold"/>
                <a:sym typeface="Canva Sans Bold"/>
              </a:rPr>
              <a:t>Crime Involving Firearms Incidents Data (Year/Region)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91721" y="1028700"/>
            <a:ext cx="16504557" cy="8994984"/>
          </a:xfrm>
          <a:custGeom>
            <a:avLst/>
            <a:gdLst/>
            <a:ahLst/>
            <a:cxnLst/>
            <a:rect l="l" t="t" r="r" b="b"/>
            <a:pathLst>
              <a:path w="16504557" h="8994984">
                <a:moveTo>
                  <a:pt x="0" y="0"/>
                </a:moveTo>
                <a:lnTo>
                  <a:pt x="16504558" y="0"/>
                </a:lnTo>
                <a:lnTo>
                  <a:pt x="16504558" y="8994984"/>
                </a:lnTo>
                <a:lnTo>
                  <a:pt x="0" y="899498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54743" y="27955"/>
            <a:ext cx="19197680" cy="894666"/>
          </a:xfrm>
          <a:prstGeom prst="rect">
            <a:avLst/>
          </a:prstGeom>
        </p:spPr>
        <p:txBody>
          <a:bodyPr lIns="0" tIns="0" rIns="0" bIns="0" rtlCol="0" anchor="t">
            <a:spAutoFit/>
          </a:bodyPr>
          <a:lstStyle/>
          <a:p>
            <a:pPr algn="ctr">
              <a:lnSpc>
                <a:spcPts val="7389"/>
              </a:lnSpc>
              <a:spcBef>
                <a:spcPct val="0"/>
              </a:spcBef>
            </a:pPr>
            <a:r>
              <a:rPr lang="en-US" sz="5278" b="1">
                <a:solidFill>
                  <a:srgbClr val="000000"/>
                </a:solidFill>
                <a:latin typeface="Canva Sans Bold"/>
                <a:ea typeface="Canva Sans Bold"/>
                <a:cs typeface="Canva Sans Bold"/>
                <a:sym typeface="Canva Sans Bold"/>
              </a:rPr>
              <a:t>Crime Involving Firearms Incidents Data (Year Totals)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6972733" y="3407115"/>
            <a:ext cx="5105565" cy="5419370"/>
          </a:xfrm>
          <a:custGeom>
            <a:avLst/>
            <a:gdLst/>
            <a:ahLst/>
            <a:cxnLst/>
            <a:rect l="l" t="t" r="r" b="b"/>
            <a:pathLst>
              <a:path w="5105565" h="5419370">
                <a:moveTo>
                  <a:pt x="0" y="0"/>
                </a:moveTo>
                <a:lnTo>
                  <a:pt x="5105564" y="0"/>
                </a:lnTo>
                <a:lnTo>
                  <a:pt x="5105564" y="5419370"/>
                </a:lnTo>
                <a:lnTo>
                  <a:pt x="0" y="541937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232672" y="508465"/>
            <a:ext cx="19197680" cy="2076929"/>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Handle with Care - South Carolina</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 Quarterly Onboarding Training Report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54840" y="27794"/>
            <a:ext cx="19197680" cy="1899055"/>
          </a:xfrm>
          <a:prstGeom prst="rect">
            <a:avLst/>
          </a:prstGeom>
        </p:spPr>
        <p:txBody>
          <a:bodyPr lIns="0" tIns="0" rIns="0" bIns="0" rtlCol="0" anchor="t">
            <a:spAutoFit/>
          </a:bodyPr>
          <a:lstStyle/>
          <a:p>
            <a:pPr algn="ctr">
              <a:lnSpc>
                <a:spcPts val="7669"/>
              </a:lnSpc>
            </a:pPr>
            <a:r>
              <a:rPr lang="en-US" sz="5478" b="1">
                <a:solidFill>
                  <a:srgbClr val="000000"/>
                </a:solidFill>
                <a:latin typeface="Canva Sans Bold"/>
                <a:ea typeface="Canva Sans Bold"/>
                <a:cs typeface="Canva Sans Bold"/>
                <a:sym typeface="Canva Sans Bold"/>
              </a:rPr>
              <a:t>HWC-SC Quarterly Onboarding Training Attended</a:t>
            </a:r>
          </a:p>
          <a:p>
            <a:pPr algn="ctr">
              <a:lnSpc>
                <a:spcPts val="7669"/>
              </a:lnSpc>
              <a:spcBef>
                <a:spcPct val="0"/>
              </a:spcBef>
            </a:pPr>
            <a:r>
              <a:rPr lang="en-US" sz="5478" b="1">
                <a:solidFill>
                  <a:srgbClr val="000000"/>
                </a:solidFill>
                <a:latin typeface="Canva Sans Bold"/>
                <a:ea typeface="Canva Sans Bold"/>
                <a:cs typeface="Canva Sans Bold"/>
                <a:sym typeface="Canva Sans Bold"/>
              </a:rPr>
              <a:t>June 2026 - Total: ?</a:t>
            </a:r>
          </a:p>
        </p:txBody>
      </p:sp>
      <p:sp>
        <p:nvSpPr>
          <p:cNvPr id="3" name="TextBox 3"/>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068561" y="2208942"/>
            <a:ext cx="14150878" cy="7949819"/>
          </a:xfrm>
          <a:custGeom>
            <a:avLst/>
            <a:gdLst/>
            <a:ahLst/>
            <a:cxnLst/>
            <a:rect l="l" t="t" r="r" b="b"/>
            <a:pathLst>
              <a:path w="14150878" h="7949819">
                <a:moveTo>
                  <a:pt x="0" y="0"/>
                </a:moveTo>
                <a:lnTo>
                  <a:pt x="14150878" y="0"/>
                </a:lnTo>
                <a:lnTo>
                  <a:pt x="14150878" y="7949819"/>
                </a:lnTo>
                <a:lnTo>
                  <a:pt x="0" y="794981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27794"/>
            <a:ext cx="19197680" cy="1899055"/>
          </a:xfrm>
          <a:prstGeom prst="rect">
            <a:avLst/>
          </a:prstGeom>
        </p:spPr>
        <p:txBody>
          <a:bodyPr lIns="0" tIns="0" rIns="0" bIns="0" rtlCol="0" anchor="t">
            <a:spAutoFit/>
          </a:bodyPr>
          <a:lstStyle/>
          <a:p>
            <a:pPr algn="ctr">
              <a:lnSpc>
                <a:spcPts val="7669"/>
              </a:lnSpc>
              <a:spcBef>
                <a:spcPct val="0"/>
              </a:spcBef>
            </a:pPr>
            <a:r>
              <a:rPr lang="en-US" sz="5478" b="1">
                <a:solidFill>
                  <a:srgbClr val="000000"/>
                </a:solidFill>
                <a:latin typeface="Canva Sans Bold"/>
                <a:ea typeface="Canva Sans Bold"/>
                <a:cs typeface="Canva Sans Bold"/>
                <a:sym typeface="Canva Sans Bold"/>
              </a:rPr>
              <a:t>HWC-SC Quarterly Onboarding Training Signups #s - Total: 157 (2 September 2026)</a:t>
            </a:r>
          </a:p>
        </p:txBody>
      </p:sp>
      <p:sp>
        <p:nvSpPr>
          <p:cNvPr id="4" name="TextBox 4"/>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35960" y="2101133"/>
            <a:ext cx="14512956" cy="7945843"/>
          </a:xfrm>
          <a:custGeom>
            <a:avLst/>
            <a:gdLst/>
            <a:ahLst/>
            <a:cxnLst/>
            <a:rect l="l" t="t" r="r" b="b"/>
            <a:pathLst>
              <a:path w="14512956" h="7945843">
                <a:moveTo>
                  <a:pt x="0" y="0"/>
                </a:moveTo>
                <a:lnTo>
                  <a:pt x="14512955" y="0"/>
                </a:lnTo>
                <a:lnTo>
                  <a:pt x="14512955" y="7945844"/>
                </a:lnTo>
                <a:lnTo>
                  <a:pt x="0" y="794584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27794"/>
            <a:ext cx="19197680" cy="1899055"/>
          </a:xfrm>
          <a:prstGeom prst="rect">
            <a:avLst/>
          </a:prstGeom>
        </p:spPr>
        <p:txBody>
          <a:bodyPr lIns="0" tIns="0" rIns="0" bIns="0" rtlCol="0" anchor="t">
            <a:spAutoFit/>
          </a:bodyPr>
          <a:lstStyle/>
          <a:p>
            <a:pPr algn="ctr">
              <a:lnSpc>
                <a:spcPts val="7669"/>
              </a:lnSpc>
              <a:spcBef>
                <a:spcPct val="0"/>
              </a:spcBef>
            </a:pPr>
            <a:r>
              <a:rPr lang="en-US" sz="5478" b="1">
                <a:solidFill>
                  <a:srgbClr val="000000"/>
                </a:solidFill>
                <a:latin typeface="Canva Sans Bold"/>
                <a:ea typeface="Canva Sans Bold"/>
                <a:cs typeface="Canva Sans Bold"/>
                <a:sym typeface="Canva Sans Bold"/>
              </a:rPr>
              <a:t>HWC-SC Quarterly Onboarding Training Signups #s - Total: 60 (June 2026)</a:t>
            </a:r>
          </a:p>
        </p:txBody>
      </p:sp>
      <p:sp>
        <p:nvSpPr>
          <p:cNvPr id="4" name="TextBox 4"/>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725583" y="1865893"/>
            <a:ext cx="14702655" cy="8196730"/>
          </a:xfrm>
          <a:custGeom>
            <a:avLst/>
            <a:gdLst/>
            <a:ahLst/>
            <a:cxnLst/>
            <a:rect l="l" t="t" r="r" b="b"/>
            <a:pathLst>
              <a:path w="14702655" h="8196730">
                <a:moveTo>
                  <a:pt x="0" y="0"/>
                </a:moveTo>
                <a:lnTo>
                  <a:pt x="14702655" y="0"/>
                </a:lnTo>
                <a:lnTo>
                  <a:pt x="14702655" y="8196731"/>
                </a:lnTo>
                <a:lnTo>
                  <a:pt x="0" y="819673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27794"/>
            <a:ext cx="19197680" cy="1899055"/>
          </a:xfrm>
          <a:prstGeom prst="rect">
            <a:avLst/>
          </a:prstGeom>
        </p:spPr>
        <p:txBody>
          <a:bodyPr lIns="0" tIns="0" rIns="0" bIns="0" rtlCol="0" anchor="t">
            <a:spAutoFit/>
          </a:bodyPr>
          <a:lstStyle/>
          <a:p>
            <a:pPr algn="ctr">
              <a:lnSpc>
                <a:spcPts val="7669"/>
              </a:lnSpc>
              <a:spcBef>
                <a:spcPct val="0"/>
              </a:spcBef>
            </a:pPr>
            <a:r>
              <a:rPr lang="en-US" sz="5478" b="1">
                <a:solidFill>
                  <a:srgbClr val="000000"/>
                </a:solidFill>
                <a:latin typeface="Canva Sans Bold"/>
                <a:ea typeface="Canva Sans Bold"/>
                <a:cs typeface="Canva Sans Bold"/>
                <a:sym typeface="Canva Sans Bold"/>
              </a:rPr>
              <a:t>HWC-SC Quarterly Onboarding Training Signups #s - Total: 16 (27 April 2026)</a:t>
            </a:r>
          </a:p>
        </p:txBody>
      </p:sp>
      <p:sp>
        <p:nvSpPr>
          <p:cNvPr id="4" name="TextBox 4"/>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54840" y="27794"/>
            <a:ext cx="19197680" cy="1899055"/>
          </a:xfrm>
          <a:prstGeom prst="rect">
            <a:avLst/>
          </a:prstGeom>
        </p:spPr>
        <p:txBody>
          <a:bodyPr lIns="0" tIns="0" rIns="0" bIns="0" rtlCol="0" anchor="t">
            <a:spAutoFit/>
          </a:bodyPr>
          <a:lstStyle/>
          <a:p>
            <a:pPr algn="ctr">
              <a:lnSpc>
                <a:spcPts val="7669"/>
              </a:lnSpc>
            </a:pPr>
            <a:r>
              <a:rPr lang="en-US" sz="5478" b="1">
                <a:solidFill>
                  <a:srgbClr val="000000"/>
                </a:solidFill>
                <a:latin typeface="Canva Sans Bold"/>
                <a:ea typeface="Canva Sans Bold"/>
                <a:cs typeface="Canva Sans Bold"/>
                <a:sym typeface="Canva Sans Bold"/>
              </a:rPr>
              <a:t>HWC-SC Quarterly Onboarding Training Attended</a:t>
            </a:r>
          </a:p>
          <a:p>
            <a:pPr algn="ctr">
              <a:lnSpc>
                <a:spcPts val="7669"/>
              </a:lnSpc>
              <a:spcBef>
                <a:spcPct val="0"/>
              </a:spcBef>
            </a:pPr>
            <a:r>
              <a:rPr lang="en-US" sz="5478" b="1">
                <a:solidFill>
                  <a:srgbClr val="000000"/>
                </a:solidFill>
                <a:latin typeface="Canva Sans Bold"/>
                <a:ea typeface="Canva Sans Bold"/>
                <a:cs typeface="Canva Sans Bold"/>
                <a:sym typeface="Canva Sans Bold"/>
              </a:rPr>
              <a:t>September 2026 - Total: ?</a:t>
            </a:r>
          </a:p>
        </p:txBody>
      </p:sp>
      <p:sp>
        <p:nvSpPr>
          <p:cNvPr id="3" name="TextBox 3"/>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54840" y="27794"/>
            <a:ext cx="19197680" cy="1899055"/>
          </a:xfrm>
          <a:prstGeom prst="rect">
            <a:avLst/>
          </a:prstGeom>
        </p:spPr>
        <p:txBody>
          <a:bodyPr lIns="0" tIns="0" rIns="0" bIns="0" rtlCol="0" anchor="t">
            <a:spAutoFit/>
          </a:bodyPr>
          <a:lstStyle/>
          <a:p>
            <a:pPr algn="ctr">
              <a:lnSpc>
                <a:spcPts val="7669"/>
              </a:lnSpc>
            </a:pPr>
            <a:r>
              <a:rPr lang="en-US" sz="5478" b="1">
                <a:solidFill>
                  <a:srgbClr val="000000"/>
                </a:solidFill>
                <a:latin typeface="Canva Sans Bold"/>
                <a:ea typeface="Canva Sans Bold"/>
                <a:cs typeface="Canva Sans Bold"/>
                <a:sym typeface="Canva Sans Bold"/>
              </a:rPr>
              <a:t>HWC-SC Quarterly Onboarding Training Attended</a:t>
            </a:r>
          </a:p>
          <a:p>
            <a:pPr algn="ctr">
              <a:lnSpc>
                <a:spcPts val="7669"/>
              </a:lnSpc>
              <a:spcBef>
                <a:spcPct val="0"/>
              </a:spcBef>
            </a:pPr>
            <a:r>
              <a:rPr lang="en-US" sz="5478" b="1">
                <a:solidFill>
                  <a:srgbClr val="000000"/>
                </a:solidFill>
                <a:latin typeface="Canva Sans Bold"/>
                <a:ea typeface="Canva Sans Bold"/>
                <a:cs typeface="Canva Sans Bold"/>
                <a:sym typeface="Canva Sans Bold"/>
              </a:rPr>
              <a:t>December 2026 - Total: ?</a:t>
            </a:r>
          </a:p>
        </p:txBody>
      </p:sp>
      <p:sp>
        <p:nvSpPr>
          <p:cNvPr id="3" name="TextBox 3"/>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6972733" y="3407115"/>
            <a:ext cx="5105565" cy="5419370"/>
          </a:xfrm>
          <a:custGeom>
            <a:avLst/>
            <a:gdLst/>
            <a:ahLst/>
            <a:cxnLst/>
            <a:rect l="l" t="t" r="r" b="b"/>
            <a:pathLst>
              <a:path w="5105565" h="5419370">
                <a:moveTo>
                  <a:pt x="0" y="0"/>
                </a:moveTo>
                <a:lnTo>
                  <a:pt x="5105564" y="0"/>
                </a:lnTo>
                <a:lnTo>
                  <a:pt x="5105564" y="5419370"/>
                </a:lnTo>
                <a:lnTo>
                  <a:pt x="0" y="541937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232672" y="508465"/>
            <a:ext cx="19197680" cy="2077004"/>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Handle with Care - South Carolina</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 Regional Training Reporting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07055" y="1290229"/>
            <a:ext cx="13851156" cy="7773962"/>
          </a:xfrm>
          <a:custGeom>
            <a:avLst/>
            <a:gdLst/>
            <a:ahLst/>
            <a:cxnLst/>
            <a:rect l="l" t="t" r="r" b="b"/>
            <a:pathLst>
              <a:path w="13851156" h="7773962">
                <a:moveTo>
                  <a:pt x="0" y="0"/>
                </a:moveTo>
                <a:lnTo>
                  <a:pt x="13851156" y="0"/>
                </a:lnTo>
                <a:lnTo>
                  <a:pt x="13851156" y="7773961"/>
                </a:lnTo>
                <a:lnTo>
                  <a:pt x="0" y="77739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8744"/>
            <a:ext cx="19197680" cy="1019729"/>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HWC Regional Training Attended #s - Total: 147</a:t>
            </a:r>
          </a:p>
        </p:txBody>
      </p:sp>
      <p:sp>
        <p:nvSpPr>
          <p:cNvPr id="4" name="TextBox 4"/>
          <p:cNvSpPr txBox="1"/>
          <p:nvPr/>
        </p:nvSpPr>
        <p:spPr>
          <a:xfrm>
            <a:off x="18006326" y="5935684"/>
            <a:ext cx="1551455" cy="248168"/>
          </a:xfrm>
          <a:prstGeom prst="rect">
            <a:avLst/>
          </a:prstGeom>
        </p:spPr>
        <p:txBody>
          <a:bodyPr lIns="0" tIns="0" rIns="0" bIns="0" rtlCol="0" anchor="t">
            <a:spAutoFit/>
          </a:bodyPr>
          <a:lstStyle/>
          <a:p>
            <a:pPr algn="ctr">
              <a:lnSpc>
                <a:spcPts val="2069"/>
              </a:lnSpc>
              <a:spcBef>
                <a:spcPct val="0"/>
              </a:spcBef>
            </a:pPr>
            <a:r>
              <a:rPr lang="en-US" sz="1478" b="1">
                <a:solidFill>
                  <a:srgbClr val="000000"/>
                </a:solidFill>
                <a:latin typeface="Canva Sans Bold"/>
                <a:ea typeface="Canva Sans Bold"/>
                <a:cs typeface="Canva Sans Bold"/>
                <a:sym typeface="Canva Sans Bold"/>
              </a:rPr>
              <a:t>PEE DEE</a:t>
            </a:r>
          </a:p>
        </p:txBody>
      </p:sp>
      <p:sp>
        <p:nvSpPr>
          <p:cNvPr id="5" name="Freeform 5"/>
          <p:cNvSpPr/>
          <p:nvPr/>
        </p:nvSpPr>
        <p:spPr>
          <a:xfrm>
            <a:off x="14179561" y="3612884"/>
            <a:ext cx="3974202" cy="3543374"/>
          </a:xfrm>
          <a:custGeom>
            <a:avLst/>
            <a:gdLst/>
            <a:ahLst/>
            <a:cxnLst/>
            <a:rect l="l" t="t" r="r" b="b"/>
            <a:pathLst>
              <a:path w="3974202" h="3543374">
                <a:moveTo>
                  <a:pt x="0" y="0"/>
                </a:moveTo>
                <a:lnTo>
                  <a:pt x="3974202" y="0"/>
                </a:lnTo>
                <a:lnTo>
                  <a:pt x="3974202" y="3543374"/>
                </a:lnTo>
                <a:lnTo>
                  <a:pt x="0" y="3543374"/>
                </a:lnTo>
                <a:lnTo>
                  <a:pt x="0" y="0"/>
                </a:lnTo>
                <a:close/>
              </a:path>
            </a:pathLst>
          </a:custGeom>
          <a:blipFill>
            <a:blip r:embed="rId3"/>
            <a:stretch>
              <a:fillRect l="-2090" t="-2679"/>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212427" y="3935579"/>
            <a:ext cx="3649134" cy="3253545"/>
          </a:xfrm>
          <a:custGeom>
            <a:avLst/>
            <a:gdLst/>
            <a:ahLst/>
            <a:cxnLst/>
            <a:rect l="l" t="t" r="r" b="b"/>
            <a:pathLst>
              <a:path w="3649134" h="3253545">
                <a:moveTo>
                  <a:pt x="0" y="0"/>
                </a:moveTo>
                <a:lnTo>
                  <a:pt x="3649134" y="0"/>
                </a:lnTo>
                <a:lnTo>
                  <a:pt x="3649134" y="3253545"/>
                </a:lnTo>
                <a:lnTo>
                  <a:pt x="0" y="3253545"/>
                </a:lnTo>
                <a:lnTo>
                  <a:pt x="0" y="0"/>
                </a:lnTo>
                <a:close/>
              </a:path>
            </a:pathLst>
          </a:custGeom>
          <a:blipFill>
            <a:blip r:embed="rId2"/>
            <a:stretch>
              <a:fillRect l="-2090" t="-2679"/>
            </a:stretch>
          </a:blipFill>
        </p:spPr>
        <p:txBody>
          <a:bodyPr/>
          <a:lstStyle/>
          <a:p>
            <a:endParaRPr lang="en-US"/>
          </a:p>
        </p:txBody>
      </p:sp>
      <p:sp>
        <p:nvSpPr>
          <p:cNvPr id="3" name="Freeform 3"/>
          <p:cNvSpPr/>
          <p:nvPr/>
        </p:nvSpPr>
        <p:spPr>
          <a:xfrm>
            <a:off x="134050" y="1678508"/>
            <a:ext cx="13942582" cy="7807846"/>
          </a:xfrm>
          <a:custGeom>
            <a:avLst/>
            <a:gdLst/>
            <a:ahLst/>
            <a:cxnLst/>
            <a:rect l="l" t="t" r="r" b="b"/>
            <a:pathLst>
              <a:path w="13942582" h="7807846">
                <a:moveTo>
                  <a:pt x="0" y="0"/>
                </a:moveTo>
                <a:lnTo>
                  <a:pt x="13942582" y="0"/>
                </a:lnTo>
                <a:lnTo>
                  <a:pt x="13942582" y="7807846"/>
                </a:lnTo>
                <a:lnTo>
                  <a:pt x="0" y="780784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454840" y="-85725"/>
            <a:ext cx="19197680" cy="762586"/>
          </a:xfrm>
          <a:prstGeom prst="rect">
            <a:avLst/>
          </a:prstGeom>
        </p:spPr>
        <p:txBody>
          <a:bodyPr lIns="0" tIns="0" rIns="0" bIns="0" rtlCol="0" anchor="t">
            <a:spAutoFit/>
          </a:bodyPr>
          <a:lstStyle/>
          <a:p>
            <a:pPr algn="ctr">
              <a:lnSpc>
                <a:spcPts val="6269"/>
              </a:lnSpc>
              <a:spcBef>
                <a:spcPct val="0"/>
              </a:spcBef>
            </a:pPr>
            <a:r>
              <a:rPr lang="en-US" sz="4478" b="1">
                <a:solidFill>
                  <a:srgbClr val="000000"/>
                </a:solidFill>
                <a:latin typeface="Canva Sans Bold"/>
                <a:ea typeface="Canva Sans Bold"/>
                <a:cs typeface="Canva Sans Bold"/>
                <a:sym typeface="Canva Sans Bold"/>
              </a:rPr>
              <a:t>HWC Regional Training Google Forms Signup Attendees Request</a:t>
            </a:r>
          </a:p>
        </p:txBody>
      </p:sp>
      <p:sp>
        <p:nvSpPr>
          <p:cNvPr id="5" name="TextBox 5"/>
          <p:cNvSpPr txBox="1"/>
          <p:nvPr/>
        </p:nvSpPr>
        <p:spPr>
          <a:xfrm>
            <a:off x="-612824" y="803128"/>
            <a:ext cx="19197680" cy="795540"/>
          </a:xfrm>
          <a:prstGeom prst="rect">
            <a:avLst/>
          </a:prstGeom>
        </p:spPr>
        <p:txBody>
          <a:bodyPr lIns="0" tIns="0" rIns="0" bIns="0" rtlCol="0" anchor="t">
            <a:spAutoFit/>
          </a:bodyPr>
          <a:lstStyle/>
          <a:p>
            <a:pPr algn="ctr">
              <a:lnSpc>
                <a:spcPts val="6549"/>
              </a:lnSpc>
              <a:spcBef>
                <a:spcPct val="0"/>
              </a:spcBef>
            </a:pPr>
            <a:r>
              <a:rPr lang="en-US" sz="4678" b="1">
                <a:solidFill>
                  <a:srgbClr val="000000"/>
                </a:solidFill>
                <a:latin typeface="Canva Sans Bold"/>
                <a:ea typeface="Canva Sans Bold"/>
                <a:cs typeface="Canva Sans Bold"/>
                <a:sym typeface="Canva Sans Bold"/>
              </a:rPr>
              <a:t>as of 24 November 2025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0" y="914400"/>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HWC-SC Notifications County Reporting</a:t>
            </a:r>
          </a:p>
        </p:txBody>
      </p:sp>
      <p:sp>
        <p:nvSpPr>
          <p:cNvPr id="3" name="Freeform 3"/>
          <p:cNvSpPr/>
          <p:nvPr/>
        </p:nvSpPr>
        <p:spPr>
          <a:xfrm>
            <a:off x="7186360" y="2601902"/>
            <a:ext cx="5105565" cy="5419370"/>
          </a:xfrm>
          <a:custGeom>
            <a:avLst/>
            <a:gdLst/>
            <a:ahLst/>
            <a:cxnLst/>
            <a:rect l="l" t="t" r="r" b="b"/>
            <a:pathLst>
              <a:path w="5105565" h="5419370">
                <a:moveTo>
                  <a:pt x="0" y="0"/>
                </a:moveTo>
                <a:lnTo>
                  <a:pt x="5105565" y="0"/>
                </a:lnTo>
                <a:lnTo>
                  <a:pt x="5105565" y="5419370"/>
                </a:lnTo>
                <a:lnTo>
                  <a:pt x="0" y="5419370"/>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94751" y="940747"/>
            <a:ext cx="16164549" cy="9153003"/>
          </a:xfrm>
          <a:custGeom>
            <a:avLst/>
            <a:gdLst/>
            <a:ahLst/>
            <a:cxnLst/>
            <a:rect l="l" t="t" r="r" b="b"/>
            <a:pathLst>
              <a:path w="16164549" h="9153003">
                <a:moveTo>
                  <a:pt x="0" y="0"/>
                </a:moveTo>
                <a:lnTo>
                  <a:pt x="16164549" y="0"/>
                </a:lnTo>
                <a:lnTo>
                  <a:pt x="16164549" y="9153003"/>
                </a:lnTo>
                <a:lnTo>
                  <a:pt x="0" y="915300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19831"/>
            <a:ext cx="19197680" cy="788588"/>
          </a:xfrm>
          <a:prstGeom prst="rect">
            <a:avLst/>
          </a:prstGeom>
        </p:spPr>
        <p:txBody>
          <a:bodyPr lIns="0" tIns="0" rIns="0" bIns="0" rtlCol="0" anchor="t">
            <a:spAutoFit/>
          </a:bodyPr>
          <a:lstStyle/>
          <a:p>
            <a:pPr algn="ctr">
              <a:lnSpc>
                <a:spcPts val="6409"/>
              </a:lnSpc>
              <a:spcBef>
                <a:spcPct val="0"/>
              </a:spcBef>
            </a:pPr>
            <a:r>
              <a:rPr lang="en-US" sz="4578" b="1">
                <a:solidFill>
                  <a:srgbClr val="000000"/>
                </a:solidFill>
                <a:latin typeface="Canva Sans Bold"/>
                <a:ea typeface="Canva Sans Bold"/>
                <a:cs typeface="Canva Sans Bold"/>
                <a:sym typeface="Canva Sans Bold"/>
              </a:rPr>
              <a:t>HWC Notifications Monthly Reported by County POC - Current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665356" y="846029"/>
            <a:ext cx="16593944" cy="9292138"/>
          </a:xfrm>
          <a:custGeom>
            <a:avLst/>
            <a:gdLst/>
            <a:ahLst/>
            <a:cxnLst/>
            <a:rect l="l" t="t" r="r" b="b"/>
            <a:pathLst>
              <a:path w="16593944" h="9292138">
                <a:moveTo>
                  <a:pt x="0" y="0"/>
                </a:moveTo>
                <a:lnTo>
                  <a:pt x="16593944" y="0"/>
                </a:lnTo>
                <a:lnTo>
                  <a:pt x="16593944" y="9292138"/>
                </a:lnTo>
                <a:lnTo>
                  <a:pt x="0" y="929213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19831"/>
            <a:ext cx="19197680" cy="788588"/>
          </a:xfrm>
          <a:prstGeom prst="rect">
            <a:avLst/>
          </a:prstGeom>
        </p:spPr>
        <p:txBody>
          <a:bodyPr lIns="0" tIns="0" rIns="0" bIns="0" rtlCol="0" anchor="t">
            <a:spAutoFit/>
          </a:bodyPr>
          <a:lstStyle/>
          <a:p>
            <a:pPr algn="ctr">
              <a:lnSpc>
                <a:spcPts val="6409"/>
              </a:lnSpc>
              <a:spcBef>
                <a:spcPct val="0"/>
              </a:spcBef>
            </a:pPr>
            <a:r>
              <a:rPr lang="en-US" sz="4578" b="1">
                <a:solidFill>
                  <a:srgbClr val="000000"/>
                </a:solidFill>
                <a:latin typeface="Canva Sans Bold"/>
                <a:ea typeface="Canva Sans Bold"/>
                <a:cs typeface="Canva Sans Bold"/>
                <a:sym typeface="Canva Sans Bold"/>
              </a:rPr>
              <a:t>HWC Notifications Monthly Reported by County POC - Current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980914"/>
            <a:ext cx="16053807" cy="9110535"/>
          </a:xfrm>
          <a:custGeom>
            <a:avLst/>
            <a:gdLst/>
            <a:ahLst/>
            <a:cxnLst/>
            <a:rect l="l" t="t" r="r" b="b"/>
            <a:pathLst>
              <a:path w="16053807" h="9110535">
                <a:moveTo>
                  <a:pt x="0" y="0"/>
                </a:moveTo>
                <a:lnTo>
                  <a:pt x="16053807" y="0"/>
                </a:lnTo>
                <a:lnTo>
                  <a:pt x="16053807" y="9110535"/>
                </a:lnTo>
                <a:lnTo>
                  <a:pt x="0" y="9110535"/>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10306"/>
            <a:ext cx="19197680" cy="762553"/>
          </a:xfrm>
          <a:prstGeom prst="rect">
            <a:avLst/>
          </a:prstGeom>
        </p:spPr>
        <p:txBody>
          <a:bodyPr lIns="0" tIns="0" rIns="0" bIns="0" rtlCol="0" anchor="t">
            <a:spAutoFit/>
          </a:bodyPr>
          <a:lstStyle/>
          <a:p>
            <a:pPr algn="ctr">
              <a:lnSpc>
                <a:spcPts val="6269"/>
              </a:lnSpc>
              <a:spcBef>
                <a:spcPct val="0"/>
              </a:spcBef>
            </a:pPr>
            <a:r>
              <a:rPr lang="en-US" sz="4478" b="1">
                <a:solidFill>
                  <a:srgbClr val="000000"/>
                </a:solidFill>
                <a:latin typeface="Canva Sans Bold"/>
                <a:ea typeface="Canva Sans Bold"/>
                <a:cs typeface="Canva Sans Bold"/>
                <a:sym typeface="Canva Sans Bold"/>
              </a:rPr>
              <a:t>HWC Notifications Monthly Reported by County - 1 October 2025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11393" y="1065522"/>
            <a:ext cx="15836060" cy="8995699"/>
          </a:xfrm>
          <a:custGeom>
            <a:avLst/>
            <a:gdLst/>
            <a:ahLst/>
            <a:cxnLst/>
            <a:rect l="l" t="t" r="r" b="b"/>
            <a:pathLst>
              <a:path w="15836060" h="8995699">
                <a:moveTo>
                  <a:pt x="0" y="0"/>
                </a:moveTo>
                <a:lnTo>
                  <a:pt x="15836060" y="0"/>
                </a:lnTo>
                <a:lnTo>
                  <a:pt x="15836060" y="8995699"/>
                </a:lnTo>
                <a:lnTo>
                  <a:pt x="0" y="899569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38881"/>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Richland County SD HWC Notifications (Current)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60432" y="980914"/>
            <a:ext cx="16398868" cy="9203865"/>
          </a:xfrm>
          <a:custGeom>
            <a:avLst/>
            <a:gdLst/>
            <a:ahLst/>
            <a:cxnLst/>
            <a:rect l="l" t="t" r="r" b="b"/>
            <a:pathLst>
              <a:path w="16398868" h="9203865">
                <a:moveTo>
                  <a:pt x="0" y="0"/>
                </a:moveTo>
                <a:lnTo>
                  <a:pt x="16398868" y="0"/>
                </a:lnTo>
                <a:lnTo>
                  <a:pt x="16398868" y="9203864"/>
                </a:lnTo>
                <a:lnTo>
                  <a:pt x="0" y="920386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45315" y="-38778"/>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Richland County SD HWC Notifications (Oct 2024)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581592" y="6261481"/>
            <a:ext cx="7675944" cy="3831274"/>
          </a:xfrm>
          <a:custGeom>
            <a:avLst/>
            <a:gdLst/>
            <a:ahLst/>
            <a:cxnLst/>
            <a:rect l="l" t="t" r="r" b="b"/>
            <a:pathLst>
              <a:path w="7675944" h="3831274">
                <a:moveTo>
                  <a:pt x="0" y="0"/>
                </a:moveTo>
                <a:lnTo>
                  <a:pt x="7675944" y="0"/>
                </a:lnTo>
                <a:lnTo>
                  <a:pt x="7675944" y="3831274"/>
                </a:lnTo>
                <a:lnTo>
                  <a:pt x="0" y="3831274"/>
                </a:lnTo>
                <a:lnTo>
                  <a:pt x="0" y="0"/>
                </a:lnTo>
                <a:close/>
              </a:path>
            </a:pathLst>
          </a:custGeom>
          <a:blipFill>
            <a:blip r:embed="rId2"/>
            <a:stretch>
              <a:fillRect/>
            </a:stretch>
          </a:blipFill>
        </p:spPr>
        <p:txBody>
          <a:bodyPr/>
          <a:lstStyle/>
          <a:p>
            <a:endParaRPr lang="en-US"/>
          </a:p>
        </p:txBody>
      </p:sp>
      <p:sp>
        <p:nvSpPr>
          <p:cNvPr id="3" name="Freeform 3"/>
          <p:cNvSpPr/>
          <p:nvPr/>
        </p:nvSpPr>
        <p:spPr>
          <a:xfrm>
            <a:off x="5402028" y="2294376"/>
            <a:ext cx="7805610" cy="2996223"/>
          </a:xfrm>
          <a:custGeom>
            <a:avLst/>
            <a:gdLst/>
            <a:ahLst/>
            <a:cxnLst/>
            <a:rect l="l" t="t" r="r" b="b"/>
            <a:pathLst>
              <a:path w="7805610" h="2996223">
                <a:moveTo>
                  <a:pt x="0" y="0"/>
                </a:moveTo>
                <a:lnTo>
                  <a:pt x="7805610" y="0"/>
                </a:lnTo>
                <a:lnTo>
                  <a:pt x="7805610" y="2996222"/>
                </a:lnTo>
                <a:lnTo>
                  <a:pt x="0" y="299622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38974" y="-38778"/>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Richland County SD HWC Notifications Reporting</a:t>
            </a:r>
          </a:p>
        </p:txBody>
      </p:sp>
      <p:sp>
        <p:nvSpPr>
          <p:cNvPr id="5" name="TextBox 5"/>
          <p:cNvSpPr txBox="1"/>
          <p:nvPr/>
        </p:nvSpPr>
        <p:spPr>
          <a:xfrm>
            <a:off x="-341848" y="5241790"/>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As of October 2024</a:t>
            </a:r>
          </a:p>
        </p:txBody>
      </p:sp>
      <p:sp>
        <p:nvSpPr>
          <p:cNvPr id="6" name="TextBox 6"/>
          <p:cNvSpPr txBox="1"/>
          <p:nvPr/>
        </p:nvSpPr>
        <p:spPr>
          <a:xfrm>
            <a:off x="-341848" y="1209219"/>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As of 3 June 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47246" y="910672"/>
            <a:ext cx="16169599" cy="9058685"/>
          </a:xfrm>
          <a:custGeom>
            <a:avLst/>
            <a:gdLst/>
            <a:ahLst/>
            <a:cxnLst/>
            <a:rect l="l" t="t" r="r" b="b"/>
            <a:pathLst>
              <a:path w="16169599" h="9058685">
                <a:moveTo>
                  <a:pt x="0" y="0"/>
                </a:moveTo>
                <a:lnTo>
                  <a:pt x="16169599" y="0"/>
                </a:lnTo>
                <a:lnTo>
                  <a:pt x="16169599" y="9058685"/>
                </a:lnTo>
                <a:lnTo>
                  <a:pt x="0" y="9058685"/>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646339" y="-29356"/>
            <a:ext cx="26761156" cy="871175"/>
          </a:xfrm>
          <a:prstGeom prst="rect">
            <a:avLst/>
          </a:prstGeom>
        </p:spPr>
        <p:txBody>
          <a:bodyPr lIns="0" tIns="0" rIns="0" bIns="0" rtlCol="0" anchor="t">
            <a:spAutoFit/>
          </a:bodyPr>
          <a:lstStyle/>
          <a:p>
            <a:pPr algn="ctr">
              <a:lnSpc>
                <a:spcPts val="7109"/>
              </a:lnSpc>
              <a:spcBef>
                <a:spcPct val="0"/>
              </a:spcBef>
            </a:pPr>
            <a:r>
              <a:rPr lang="en-US" sz="5078" b="1">
                <a:solidFill>
                  <a:srgbClr val="000000"/>
                </a:solidFill>
                <a:latin typeface="Canva Sans Bold"/>
                <a:ea typeface="Canva Sans Bold"/>
                <a:cs typeface="Canva Sans Bold"/>
                <a:sym typeface="Canva Sans Bold"/>
              </a:rPr>
              <a:t>HWC County JotForm QR Code Notifications Current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19481" y="1208132"/>
            <a:ext cx="15333042" cy="8669361"/>
          </a:xfrm>
          <a:custGeom>
            <a:avLst/>
            <a:gdLst/>
            <a:ahLst/>
            <a:cxnLst/>
            <a:rect l="l" t="t" r="r" b="b"/>
            <a:pathLst>
              <a:path w="15333042" h="8669361">
                <a:moveTo>
                  <a:pt x="0" y="0"/>
                </a:moveTo>
                <a:lnTo>
                  <a:pt x="15333042" y="0"/>
                </a:lnTo>
                <a:lnTo>
                  <a:pt x="15333042" y="8669361"/>
                </a:lnTo>
                <a:lnTo>
                  <a:pt x="0" y="866936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646339" y="-29356"/>
            <a:ext cx="26761156" cy="871175"/>
          </a:xfrm>
          <a:prstGeom prst="rect">
            <a:avLst/>
          </a:prstGeom>
        </p:spPr>
        <p:txBody>
          <a:bodyPr lIns="0" tIns="0" rIns="0" bIns="0" rtlCol="0" anchor="t">
            <a:spAutoFit/>
          </a:bodyPr>
          <a:lstStyle/>
          <a:p>
            <a:pPr algn="ctr">
              <a:lnSpc>
                <a:spcPts val="7109"/>
              </a:lnSpc>
              <a:spcBef>
                <a:spcPct val="0"/>
              </a:spcBef>
            </a:pPr>
            <a:r>
              <a:rPr lang="en-US" sz="5078" b="1">
                <a:solidFill>
                  <a:srgbClr val="000000"/>
                </a:solidFill>
                <a:latin typeface="Canva Sans Bold"/>
                <a:ea typeface="Canva Sans Bold"/>
                <a:cs typeface="Canva Sans Bold"/>
                <a:sym typeface="Canva Sans Bold"/>
              </a:rPr>
              <a:t>HWC County JotForm QR Code Notifications Current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41717" y="1107128"/>
            <a:ext cx="16085005" cy="9049812"/>
          </a:xfrm>
          <a:custGeom>
            <a:avLst/>
            <a:gdLst/>
            <a:ahLst/>
            <a:cxnLst/>
            <a:rect l="l" t="t" r="r" b="b"/>
            <a:pathLst>
              <a:path w="16085005" h="9049812">
                <a:moveTo>
                  <a:pt x="0" y="0"/>
                </a:moveTo>
                <a:lnTo>
                  <a:pt x="16085005" y="0"/>
                </a:lnTo>
                <a:lnTo>
                  <a:pt x="16085005" y="9049812"/>
                </a:lnTo>
                <a:lnTo>
                  <a:pt x="0" y="9049812"/>
                </a:lnTo>
                <a:lnTo>
                  <a:pt x="0" y="0"/>
                </a:lnTo>
                <a:close/>
              </a:path>
            </a:pathLst>
          </a:custGeom>
          <a:blipFill>
            <a:blip r:embed="rId2"/>
            <a:stretch>
              <a:fillRect t="-866"/>
            </a:stretch>
          </a:blipFill>
        </p:spPr>
        <p:txBody>
          <a:bodyPr/>
          <a:lstStyle/>
          <a:p>
            <a:endParaRPr lang="en-US"/>
          </a:p>
        </p:txBody>
      </p:sp>
      <p:sp>
        <p:nvSpPr>
          <p:cNvPr id="3" name="TextBox 3"/>
          <p:cNvSpPr txBox="1"/>
          <p:nvPr/>
        </p:nvSpPr>
        <p:spPr>
          <a:xfrm>
            <a:off x="-454840" y="-38881"/>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HWC County JotForm QR Code Notifications</a:t>
            </a:r>
          </a:p>
        </p:txBody>
      </p:sp>
      <p:sp>
        <p:nvSpPr>
          <p:cNvPr id="4" name="TextBox 4"/>
          <p:cNvSpPr txBox="1"/>
          <p:nvPr/>
        </p:nvSpPr>
        <p:spPr>
          <a:xfrm>
            <a:off x="16326722" y="3494322"/>
            <a:ext cx="1865156" cy="1861936"/>
          </a:xfrm>
          <a:prstGeom prst="rect">
            <a:avLst/>
          </a:prstGeom>
        </p:spPr>
        <p:txBody>
          <a:bodyPr lIns="0" tIns="0" rIns="0" bIns="0" rtlCol="0" anchor="t">
            <a:spAutoFit/>
          </a:bodyPr>
          <a:lstStyle/>
          <a:p>
            <a:pPr algn="ctr">
              <a:lnSpc>
                <a:spcPts val="5009"/>
              </a:lnSpc>
              <a:spcBef>
                <a:spcPct val="0"/>
              </a:spcBef>
            </a:pPr>
            <a:r>
              <a:rPr lang="en-US" sz="3578" b="1">
                <a:solidFill>
                  <a:srgbClr val="000000"/>
                </a:solidFill>
                <a:latin typeface="Canva Sans Bold"/>
                <a:ea typeface="Canva Sans Bold"/>
                <a:cs typeface="Canva Sans Bold"/>
                <a:sym typeface="Canva Sans Bold"/>
              </a:rPr>
              <a:t>1 August 2025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29571" y="1468059"/>
            <a:ext cx="15390951" cy="8717875"/>
          </a:xfrm>
          <a:custGeom>
            <a:avLst/>
            <a:gdLst/>
            <a:ahLst/>
            <a:cxnLst/>
            <a:rect l="l" t="t" r="r" b="b"/>
            <a:pathLst>
              <a:path w="15390951" h="8717875">
                <a:moveTo>
                  <a:pt x="0" y="0"/>
                </a:moveTo>
                <a:lnTo>
                  <a:pt x="15390951" y="0"/>
                </a:lnTo>
                <a:lnTo>
                  <a:pt x="15390951" y="8717875"/>
                </a:lnTo>
                <a:lnTo>
                  <a:pt x="0" y="8717875"/>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36578" y="-209918"/>
            <a:ext cx="26761156" cy="1598213"/>
          </a:xfrm>
          <a:prstGeom prst="rect">
            <a:avLst/>
          </a:prstGeom>
        </p:spPr>
        <p:txBody>
          <a:bodyPr lIns="0" tIns="0" rIns="0" bIns="0" rtlCol="0" anchor="t">
            <a:spAutoFit/>
          </a:bodyPr>
          <a:lstStyle/>
          <a:p>
            <a:pPr algn="ctr">
              <a:lnSpc>
                <a:spcPts val="6409"/>
              </a:lnSpc>
            </a:pPr>
            <a:r>
              <a:rPr lang="en-US" sz="4578" b="1">
                <a:solidFill>
                  <a:srgbClr val="000000"/>
                </a:solidFill>
                <a:latin typeface="Canva Sans Bold"/>
                <a:ea typeface="Canva Sans Bold"/>
                <a:cs typeface="Canva Sans Bold"/>
                <a:sym typeface="Canva Sans Bold"/>
              </a:rPr>
              <a:t>HWC-SC JotForm QR Code Notifications Snapshot-Extracted</a:t>
            </a:r>
          </a:p>
          <a:p>
            <a:pPr algn="ctr">
              <a:lnSpc>
                <a:spcPts val="6409"/>
              </a:lnSpc>
              <a:spcBef>
                <a:spcPct val="0"/>
              </a:spcBef>
            </a:pPr>
            <a:r>
              <a:rPr lang="en-US" sz="4578" b="1">
                <a:solidFill>
                  <a:srgbClr val="000000"/>
                </a:solidFill>
                <a:latin typeface="Canva Sans Bold"/>
                <a:ea typeface="Canva Sans Bold"/>
                <a:cs typeface="Canva Sans Bold"/>
                <a:sym typeface="Canva Sans Bold"/>
              </a:rPr>
              <a:t>Current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66883" y="1212664"/>
            <a:ext cx="8189572" cy="8637269"/>
          </a:xfrm>
          <a:custGeom>
            <a:avLst/>
            <a:gdLst/>
            <a:ahLst/>
            <a:cxnLst/>
            <a:rect l="l" t="t" r="r" b="b"/>
            <a:pathLst>
              <a:path w="8189572" h="8637269">
                <a:moveTo>
                  <a:pt x="0" y="0"/>
                </a:moveTo>
                <a:lnTo>
                  <a:pt x="8189572" y="0"/>
                </a:lnTo>
                <a:lnTo>
                  <a:pt x="8189572" y="8637268"/>
                </a:lnTo>
                <a:lnTo>
                  <a:pt x="0" y="8637268"/>
                </a:lnTo>
                <a:lnTo>
                  <a:pt x="0" y="0"/>
                </a:lnTo>
                <a:close/>
              </a:path>
            </a:pathLst>
          </a:custGeom>
          <a:blipFill>
            <a:blip r:embed="rId2"/>
            <a:stretch>
              <a:fillRect/>
            </a:stretch>
          </a:blipFill>
        </p:spPr>
        <p:txBody>
          <a:bodyPr/>
          <a:lstStyle/>
          <a:p>
            <a:endParaRPr lang="en-US"/>
          </a:p>
        </p:txBody>
      </p:sp>
      <p:sp>
        <p:nvSpPr>
          <p:cNvPr id="3" name="Freeform 3"/>
          <p:cNvSpPr/>
          <p:nvPr/>
        </p:nvSpPr>
        <p:spPr>
          <a:xfrm>
            <a:off x="9409900" y="1212664"/>
            <a:ext cx="8079673" cy="8637269"/>
          </a:xfrm>
          <a:custGeom>
            <a:avLst/>
            <a:gdLst/>
            <a:ahLst/>
            <a:cxnLst/>
            <a:rect l="l" t="t" r="r" b="b"/>
            <a:pathLst>
              <a:path w="8079673" h="8637269">
                <a:moveTo>
                  <a:pt x="0" y="0"/>
                </a:moveTo>
                <a:lnTo>
                  <a:pt x="8079673" y="0"/>
                </a:lnTo>
                <a:lnTo>
                  <a:pt x="8079673" y="8637268"/>
                </a:lnTo>
                <a:lnTo>
                  <a:pt x="0" y="863726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4236578" y="-209918"/>
            <a:ext cx="26761156" cy="1598213"/>
          </a:xfrm>
          <a:prstGeom prst="rect">
            <a:avLst/>
          </a:prstGeom>
        </p:spPr>
        <p:txBody>
          <a:bodyPr lIns="0" tIns="0" rIns="0" bIns="0" rtlCol="0" anchor="t">
            <a:spAutoFit/>
          </a:bodyPr>
          <a:lstStyle/>
          <a:p>
            <a:pPr algn="ctr">
              <a:lnSpc>
                <a:spcPts val="6409"/>
              </a:lnSpc>
            </a:pPr>
            <a:r>
              <a:rPr lang="en-US" sz="4578" b="1">
                <a:solidFill>
                  <a:srgbClr val="000000"/>
                </a:solidFill>
                <a:latin typeface="Canva Sans Bold"/>
                <a:ea typeface="Canva Sans Bold"/>
                <a:cs typeface="Canva Sans Bold"/>
                <a:sym typeface="Canva Sans Bold"/>
              </a:rPr>
              <a:t>HWC-SC JotForm QR Code Notifications Snapshot-Extracted</a:t>
            </a:r>
          </a:p>
          <a:p>
            <a:pPr algn="ctr">
              <a:lnSpc>
                <a:spcPts val="6409"/>
              </a:lnSpc>
              <a:spcBef>
                <a:spcPct val="0"/>
              </a:spcBef>
            </a:pPr>
            <a:r>
              <a:rPr lang="en-US" sz="4578" b="1">
                <a:solidFill>
                  <a:srgbClr val="000000"/>
                </a:solidFill>
                <a:latin typeface="Canva Sans Bold"/>
                <a:ea typeface="Canva Sans Bold"/>
                <a:cs typeface="Canva Sans Bold"/>
                <a:sym typeface="Canva Sans Bold"/>
              </a:rPr>
              <a:t>Current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271378" y="1704653"/>
            <a:ext cx="7574601" cy="8063943"/>
          </a:xfrm>
          <a:custGeom>
            <a:avLst/>
            <a:gdLst/>
            <a:ahLst/>
            <a:cxnLst/>
            <a:rect l="l" t="t" r="r" b="b"/>
            <a:pathLst>
              <a:path w="7574601" h="8063943">
                <a:moveTo>
                  <a:pt x="0" y="0"/>
                </a:moveTo>
                <a:lnTo>
                  <a:pt x="7574602" y="0"/>
                </a:lnTo>
                <a:lnTo>
                  <a:pt x="7574602" y="8063943"/>
                </a:lnTo>
                <a:lnTo>
                  <a:pt x="0" y="806394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36578" y="-209918"/>
            <a:ext cx="26761156" cy="1598213"/>
          </a:xfrm>
          <a:prstGeom prst="rect">
            <a:avLst/>
          </a:prstGeom>
        </p:spPr>
        <p:txBody>
          <a:bodyPr lIns="0" tIns="0" rIns="0" bIns="0" rtlCol="0" anchor="t">
            <a:spAutoFit/>
          </a:bodyPr>
          <a:lstStyle/>
          <a:p>
            <a:pPr algn="ctr">
              <a:lnSpc>
                <a:spcPts val="6409"/>
              </a:lnSpc>
            </a:pPr>
            <a:r>
              <a:rPr lang="en-US" sz="4578" b="1">
                <a:solidFill>
                  <a:srgbClr val="000000"/>
                </a:solidFill>
                <a:latin typeface="Canva Sans Bold"/>
                <a:ea typeface="Canva Sans Bold"/>
                <a:cs typeface="Canva Sans Bold"/>
                <a:sym typeface="Canva Sans Bold"/>
              </a:rPr>
              <a:t>HWC-SC JotForm QR Code Notifications Snapshot-Extracted</a:t>
            </a:r>
          </a:p>
          <a:p>
            <a:pPr algn="ctr">
              <a:lnSpc>
                <a:spcPts val="6409"/>
              </a:lnSpc>
              <a:spcBef>
                <a:spcPct val="0"/>
              </a:spcBef>
            </a:pPr>
            <a:r>
              <a:rPr lang="en-US" sz="4578" b="1">
                <a:solidFill>
                  <a:srgbClr val="000000"/>
                </a:solidFill>
                <a:latin typeface="Canva Sans Bold"/>
                <a:ea typeface="Canva Sans Bold"/>
                <a:cs typeface="Canva Sans Bold"/>
                <a:sym typeface="Canva Sans Bold"/>
              </a:rPr>
              <a:t>Current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92090" y="1388295"/>
            <a:ext cx="15284297" cy="8673839"/>
          </a:xfrm>
          <a:custGeom>
            <a:avLst/>
            <a:gdLst/>
            <a:ahLst/>
            <a:cxnLst/>
            <a:rect l="l" t="t" r="r" b="b"/>
            <a:pathLst>
              <a:path w="15284297" h="8673839">
                <a:moveTo>
                  <a:pt x="0" y="0"/>
                </a:moveTo>
                <a:lnTo>
                  <a:pt x="15284298" y="0"/>
                </a:lnTo>
                <a:lnTo>
                  <a:pt x="15284298" y="8673838"/>
                </a:lnTo>
                <a:lnTo>
                  <a:pt x="0" y="867383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36578" y="-209918"/>
            <a:ext cx="26761156" cy="1598213"/>
          </a:xfrm>
          <a:prstGeom prst="rect">
            <a:avLst/>
          </a:prstGeom>
        </p:spPr>
        <p:txBody>
          <a:bodyPr lIns="0" tIns="0" rIns="0" bIns="0" rtlCol="0" anchor="t">
            <a:spAutoFit/>
          </a:bodyPr>
          <a:lstStyle/>
          <a:p>
            <a:pPr algn="ctr">
              <a:lnSpc>
                <a:spcPts val="6409"/>
              </a:lnSpc>
            </a:pPr>
            <a:r>
              <a:rPr lang="en-US" sz="4578" b="1">
                <a:solidFill>
                  <a:srgbClr val="000000"/>
                </a:solidFill>
                <a:latin typeface="Canva Sans Bold"/>
                <a:ea typeface="Canva Sans Bold"/>
                <a:cs typeface="Canva Sans Bold"/>
                <a:sym typeface="Canva Sans Bold"/>
              </a:rPr>
              <a:t>HWC-SC JotForm QR Code Notifications Snapshot-Extracted</a:t>
            </a:r>
          </a:p>
          <a:p>
            <a:pPr algn="ctr">
              <a:lnSpc>
                <a:spcPts val="6409"/>
              </a:lnSpc>
              <a:spcBef>
                <a:spcPct val="0"/>
              </a:spcBef>
            </a:pPr>
            <a:r>
              <a:rPr lang="en-US" sz="4578" b="1">
                <a:solidFill>
                  <a:srgbClr val="000000"/>
                </a:solidFill>
                <a:latin typeface="Canva Sans Bold"/>
                <a:ea typeface="Canva Sans Bold"/>
                <a:cs typeface="Canva Sans Bold"/>
                <a:sym typeface="Canva Sans Bold"/>
              </a:rPr>
              <a:t>30 April 2026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17642" y="4123705"/>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Program Purchases Reporting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22946" y="905495"/>
            <a:ext cx="17220022" cy="9313743"/>
          </a:xfrm>
          <a:custGeom>
            <a:avLst/>
            <a:gdLst/>
            <a:ahLst/>
            <a:cxnLst/>
            <a:rect l="l" t="t" r="r" b="b"/>
            <a:pathLst>
              <a:path w="17220022" h="9313743">
                <a:moveTo>
                  <a:pt x="0" y="0"/>
                </a:moveTo>
                <a:lnTo>
                  <a:pt x="17220022" y="0"/>
                </a:lnTo>
                <a:lnTo>
                  <a:pt x="17220022" y="9313743"/>
                </a:lnTo>
                <a:lnTo>
                  <a:pt x="0" y="931374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114300"/>
            <a:ext cx="19197680" cy="1019692"/>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Purchases Year 2 &amp; Year 3 Combined (Current)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905495"/>
            <a:ext cx="16579856" cy="9284719"/>
          </a:xfrm>
          <a:custGeom>
            <a:avLst/>
            <a:gdLst/>
            <a:ahLst/>
            <a:cxnLst/>
            <a:rect l="l" t="t" r="r" b="b"/>
            <a:pathLst>
              <a:path w="16579856" h="9284719">
                <a:moveTo>
                  <a:pt x="0" y="0"/>
                </a:moveTo>
                <a:lnTo>
                  <a:pt x="16579856" y="0"/>
                </a:lnTo>
                <a:lnTo>
                  <a:pt x="16579856" y="9284719"/>
                </a:lnTo>
                <a:lnTo>
                  <a:pt x="0" y="928471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54840" y="-114300"/>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Purchases Year 2 &amp; Year 3 Combined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17642" y="4123705"/>
            <a:ext cx="19197680" cy="1019795"/>
          </a:xfrm>
          <a:prstGeom prst="rect">
            <a:avLst/>
          </a:prstGeom>
        </p:spPr>
        <p:txBody>
          <a:bodyPr lIns="0" tIns="0" rIns="0" bIns="0" rtlCol="0" anchor="t">
            <a:spAutoFit/>
          </a:bodyPr>
          <a:lstStyle/>
          <a:p>
            <a:pPr algn="ctr">
              <a:lnSpc>
                <a:spcPts val="8369"/>
              </a:lnSpc>
              <a:spcBef>
                <a:spcPct val="0"/>
              </a:spcBef>
            </a:pPr>
            <a:r>
              <a:rPr lang="en-US" sz="5978" b="1">
                <a:solidFill>
                  <a:srgbClr val="000000"/>
                </a:solidFill>
                <a:latin typeface="Canva Sans Bold"/>
                <a:ea typeface="Canva Sans Bold"/>
                <a:cs typeface="Canva Sans Bold"/>
                <a:sym typeface="Canva Sans Bold"/>
              </a:rPr>
              <a:t>Employee Travel Reporting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052386" y="1962836"/>
            <a:ext cx="14649482" cy="8203710"/>
          </a:xfrm>
          <a:custGeom>
            <a:avLst/>
            <a:gdLst/>
            <a:ahLst/>
            <a:cxnLst/>
            <a:rect l="l" t="t" r="r" b="b"/>
            <a:pathLst>
              <a:path w="14649482" h="8203710">
                <a:moveTo>
                  <a:pt x="0" y="0"/>
                </a:moveTo>
                <a:lnTo>
                  <a:pt x="14649483" y="0"/>
                </a:lnTo>
                <a:lnTo>
                  <a:pt x="14649483" y="8203710"/>
                </a:lnTo>
                <a:lnTo>
                  <a:pt x="0" y="820371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77052" y="-114300"/>
            <a:ext cx="19197680" cy="2077136"/>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Employee Mileage Reimbursement Year 3 </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(October 2025-September 2026)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71533" y="1962836"/>
            <a:ext cx="15144933" cy="8118933"/>
          </a:xfrm>
          <a:custGeom>
            <a:avLst/>
            <a:gdLst/>
            <a:ahLst/>
            <a:cxnLst/>
            <a:rect l="l" t="t" r="r" b="b"/>
            <a:pathLst>
              <a:path w="15144933" h="8118933">
                <a:moveTo>
                  <a:pt x="0" y="0"/>
                </a:moveTo>
                <a:lnTo>
                  <a:pt x="15144934" y="0"/>
                </a:lnTo>
                <a:lnTo>
                  <a:pt x="15144934" y="8118933"/>
                </a:lnTo>
                <a:lnTo>
                  <a:pt x="0" y="811893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77052" y="-114300"/>
            <a:ext cx="19197680" cy="2077136"/>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Employee Mileage Reimbursement Year 3 </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(October 2025-September 2026)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83971" y="1962836"/>
            <a:ext cx="14675635" cy="8236700"/>
          </a:xfrm>
          <a:custGeom>
            <a:avLst/>
            <a:gdLst/>
            <a:ahLst/>
            <a:cxnLst/>
            <a:rect l="l" t="t" r="r" b="b"/>
            <a:pathLst>
              <a:path w="14675635" h="8236700">
                <a:moveTo>
                  <a:pt x="0" y="0"/>
                </a:moveTo>
                <a:lnTo>
                  <a:pt x="14675634" y="0"/>
                </a:lnTo>
                <a:lnTo>
                  <a:pt x="14675634" y="8236700"/>
                </a:lnTo>
                <a:lnTo>
                  <a:pt x="0" y="82367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77052" y="-114300"/>
            <a:ext cx="19197680" cy="2077136"/>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Employee Mileage Reimbursement Year 3 </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(October 2025-September 2026)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97B2">
                <a:alpha val="100000"/>
              </a:srgbClr>
            </a:gs>
            <a:gs pos="100000">
              <a:srgbClr val="7ED957">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148815" y="2192044"/>
            <a:ext cx="13990370" cy="7782143"/>
          </a:xfrm>
          <a:custGeom>
            <a:avLst/>
            <a:gdLst/>
            <a:ahLst/>
            <a:cxnLst/>
            <a:rect l="l" t="t" r="r" b="b"/>
            <a:pathLst>
              <a:path w="13990370" h="7782143">
                <a:moveTo>
                  <a:pt x="0" y="0"/>
                </a:moveTo>
                <a:lnTo>
                  <a:pt x="13990370" y="0"/>
                </a:lnTo>
                <a:lnTo>
                  <a:pt x="13990370" y="7782143"/>
                </a:lnTo>
                <a:lnTo>
                  <a:pt x="0" y="778214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4987" y="-114300"/>
            <a:ext cx="19197680" cy="2077136"/>
          </a:xfrm>
          <a:prstGeom prst="rect">
            <a:avLst/>
          </a:prstGeom>
        </p:spPr>
        <p:txBody>
          <a:bodyPr lIns="0" tIns="0" rIns="0" bIns="0" rtlCol="0" anchor="t">
            <a:spAutoFit/>
          </a:bodyPr>
          <a:lstStyle/>
          <a:p>
            <a:pPr algn="ctr">
              <a:lnSpc>
                <a:spcPts val="8369"/>
              </a:lnSpc>
            </a:pPr>
            <a:r>
              <a:rPr lang="en-US" sz="5978" b="1">
                <a:solidFill>
                  <a:srgbClr val="000000"/>
                </a:solidFill>
                <a:latin typeface="Canva Sans Bold"/>
                <a:ea typeface="Canva Sans Bold"/>
                <a:cs typeface="Canva Sans Bold"/>
                <a:sym typeface="Canva Sans Bold"/>
              </a:rPr>
              <a:t>Employee Mileage Reimbursement Year 2</a:t>
            </a:r>
          </a:p>
          <a:p>
            <a:pPr algn="ctr">
              <a:lnSpc>
                <a:spcPts val="8369"/>
              </a:lnSpc>
              <a:spcBef>
                <a:spcPct val="0"/>
              </a:spcBef>
            </a:pPr>
            <a:r>
              <a:rPr lang="en-US" sz="5978" b="1">
                <a:solidFill>
                  <a:srgbClr val="000000"/>
                </a:solidFill>
                <a:latin typeface="Canva Sans Bold"/>
                <a:ea typeface="Canva Sans Bold"/>
                <a:cs typeface="Canva Sans Bold"/>
                <a:sym typeface="Canva Sans Bold"/>
              </a:rPr>
              <a:t>(October 2024-September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698</Words>
  <Application>Microsoft Office PowerPoint</Application>
  <PresentationFormat>Custom</PresentationFormat>
  <Paragraphs>71</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Calibri</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USC CDR Administrative Assistant Monthly Report</dc:title>
  <cp:lastModifiedBy>Thomas Washington</cp:lastModifiedBy>
  <cp:revision>2</cp:revision>
  <dcterms:created xsi:type="dcterms:W3CDTF">2006-08-16T00:00:00Z</dcterms:created>
  <dcterms:modified xsi:type="dcterms:W3CDTF">2026-09-12T01:50:35Z</dcterms:modified>
  <dc:identifier>DAG2h-1vG9U</dc:identifier>
</cp:coreProperties>
</file>